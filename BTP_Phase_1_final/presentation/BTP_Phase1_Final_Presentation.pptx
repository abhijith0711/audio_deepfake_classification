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8"/>
    <p:sldId id="258" r:id="rId9"/>
    <p:sldId id="259" r:id="rId10"/>
    <p:sldId id="260" r:id="rId11"/>
    <p:sldId id="261" r:id="rId7"/>
    <p:sldId id="262" r:id="rId6"/>
    <p:sldId id="263" r:id="rId5"/>
    <p:sldId id="264" r:id="rId4"/>
    <p:sldId id="265" r:id="rId3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7317" autoAdjust="0"/>
  </p:normalViewPr>
  <p:slideViewPr>
    <p:cSldViewPr snapToGrid="0">
      <p:cViewPr varScale="1">
        <p:scale>
          <a:sx n="96" d="100"/>
          <a:sy n="96" d="100"/>
        </p:scale>
        <p:origin x="170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10.xml"/><Relationship Id="rId4" Type="http://schemas.openxmlformats.org/officeDocument/2006/relationships/slide" Target="slides/slide9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FFFB8-1DD6-4435-808E-1D76E7AD0590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892A09-5F36-416A-89C0-E370DBF6C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730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32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B47E-7FD2-4F7F-9381-C4308D258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2F421-AC29-47BD-8892-41909CF19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CFB46-51B2-43F8-B3E5-F10413A2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3CC8D-DF4F-4537-888A-8EE6EA88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3F124-D10F-42EF-94F2-7FBC9565E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035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FAF84-1226-4033-A36F-9CBF8F50C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2083-37E7-4972-9BD5-DD44F1A3C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2F544-050C-4AB9-9095-D9D49AAD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A83C4-112A-4972-9490-E0C0BFDA0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7559D-8902-4FE2-8DC9-183BD5B0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233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EF2A-5C6B-4555-B136-8C1C3CF3E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2A057-50B5-4DD0-8F0A-F2D8D5D2B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4B264-D1AA-42A0-AFED-4F6CAB8BF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7B74F-FC03-4A6C-A8E2-A0A538917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910F8-597D-4792-BAC8-A78F4A425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809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D0B0B-FB76-4571-8977-8B3C08C5D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7BF79-B272-4FC4-9106-632C8D23CA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8AF5FA-67E8-4EBE-A468-53B751D6C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AA619-C884-49E4-BAB7-9893F9220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5F6F1-CD3D-4683-B56A-CA4563B56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63B8C-7D18-4E19-8978-D5C6EBA9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600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7B01-8C23-4336-B1C3-FF72D68AA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695C1-E1E9-4A98-937E-ED1C020AD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75512-181D-4D77-8CAF-A5144E14B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5E4DC-DF2F-4F4A-8F3F-9A0A93E622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2C58E7-FA62-4552-96A3-2A99033860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98AE32-9603-437D-8BF7-0E77546FC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1969E-3CD1-4F9E-A7E7-B9B4EF8A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97F010-A6F0-4DF8-A842-5E31FC018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96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E5A20-2A9F-4D6C-943E-3346E4B8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66C692-C827-4E55-AFA5-76012CD1D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9F3284-9696-48B8-984D-EF44AFF57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3B2182-6056-4315-85AF-6B170A3BD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89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3127D1-DB28-4E2E-AB99-81CE7B31D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74E91-7F9D-445A-9D5A-D936D47F6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7EE57-433A-40AE-9D93-D33BBB3E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966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5A1A1-4F5E-44F9-B94A-C250BE555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D6C8D-A700-4FCE-B56C-3A9ABC2F1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10EC8-7B17-4C9B-9964-44916E021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20A7F-94E3-4E5B-BFA0-48322E2F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378A7-2C2A-4383-8653-F4DA31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8D93A-9480-4E63-8798-CD24AF0A9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447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F6621-ECC8-4152-9057-81E2FDAE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3B2BEA-9AD4-4A0C-A422-54C36BB84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26CA7-371A-43DB-8F97-FAC204E22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BBC57-3C07-4506-B4A1-832FDC2A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FE5C9-2CC7-4F1D-BC56-0A551A41B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682B3-FAFE-491A-8C8A-4FCDBD771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86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4D76-6DBE-44B7-BA10-CABAE4DC1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751C6-4C65-4D0C-803C-D873E7572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3335A-CD1D-48A4-BBF1-DFE274F90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D7192-B6E0-4D23-B0F4-2ED81C24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35068-BFD5-4BFC-983A-200964FB6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487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EE84AD-9F49-48BE-9C47-E797DEF60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D3D05-FE87-4F0F-8AD2-D3A0256B3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D02F6-DF5D-4A18-81E3-7798A49C0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3DD7E-1A38-4F0A-8410-AFE04DC7F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A0932-B146-44C0-800B-F7D153BAA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585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695D76-3F76-4440-BE44-E11DC8D09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57BFB-E7FD-43C8-A3D2-454449D5C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78B87-4569-4FAE-AC1E-60B780FF4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9C498-524F-43DB-8E60-5093D891D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A8424-BFE9-4B1D-B213-4F570AB34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5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Lightweight, Compression-Robust Audio Deepfake Detection for Edge Deployment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</a:t>
            </a:r>
          </a:p>
          <a:p>
            <a:r>
              <a:t>2023BCS0060 Nikkath Zabeen Shaik</a:t>
            </a:r>
          </a:p>
          <a:p>
            <a:r>
              <a:t>2023BCS0198 Bhuvan S M</a:t>
            </a:r>
          </a:p>
          <a:p>
            <a:r>
              <a:t>2023BCS0109 Abhijith Jayan</a:t>
            </a:r>
          </a:p>
          <a:p>
            <a:r>
              <a:t>2023BCS0087 Joshi Kshitij Santosh</a:t>
            </a:r>
          </a:p>
          <a:p/>
          <a:p>
            <a:r>
              <a:t>B.Tech Project — Phase I (Final Report Presentation)</a:t>
            </a:r>
          </a:p>
          <a:p>
            <a:r>
              <a:t>October 2026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23813"/>
            <a:ext cx="1751379" cy="815788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7865175" y="5443347"/>
            <a:ext cx="3474492" cy="1029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Guided By,</a:t>
            </a:r>
          </a:p>
          <a:p>
            <a:r>
              <a:t>Dr. Sivaiah Bellamkonda</a:t>
            </a:r>
          </a:p>
        </p:txBody>
      </p:sp>
    </p:spTree>
    <p:extLst>
      <p:ext uri="{BB962C8B-B14F-4D97-AF65-F5344CB8AC3E}">
        <p14:creationId xmlns:p14="http://schemas.microsoft.com/office/powerpoint/2010/main" val="25252304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5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Introduction: Audio Deepfakes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/>
            </a:pPr>
            <a:r>
              <a:t>• Artificially generated or manipulated audio imitating real voices or acoustic scenes</a:t>
            </a:r>
          </a:p>
          <a:p>
            <a:pPr>
              <a:defRPr sz="1700"/>
            </a:pPr>
            <a:r>
              <a:t>• TTS (text-to-speech), voice conversion, vocoders, diffusion, and audio LLMs</a:t>
            </a:r>
          </a:p>
          <a:p>
            <a:pPr>
              <a:defRPr sz="1700"/>
            </a:pPr>
            <a:r>
              <a:t>• Threats: fraud, misinformation, forged evidence, voice-biometric bypass</a:t>
            </a:r>
          </a:p>
          <a:p>
            <a:pPr>
              <a:defRPr sz="1500" i="1"/>
            </a:pPr>
            <a:r>
              <a:t>f_θ(x) → {bona-fide, synthetic/manipulated}  (binary detection)</a:t>
            </a:r>
          </a:p>
          <a:p>
            <a:pPr>
              <a:defRPr sz="1500" b="1"/>
            </a:pPr>
            <a:r>
              <a:t>→ Type-agnostic Track 2 — category unknown at test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Introduction: Accuracy, Robustness, and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/>
            </a:pPr>
            <a:r>
              <a:t>• Reliable deployment needs all three jointly — not benchmark accuracy alone</a:t>
            </a:r>
          </a:p>
          <a:p>
            <a:pPr>
              <a:defRPr sz="1700"/>
            </a:pPr>
            <a:r>
              <a:t>• Clean-lab scores overstate performance on messaging, telephony, and social media</a:t>
            </a:r>
          </a:p>
          <a:p>
            <a:pPr>
              <a:defRPr sz="1700"/>
            </a:pPr>
            <a:r>
              <a:t>• Edge hardware limits model size (~1.5M params) and latency</a:t>
            </a:r>
          </a:p>
          <a:p>
            <a:pPr>
              <a:defRPr sz="1500" b="1"/>
            </a:pPr>
            <a:r>
              <a:t>→ Train-time robustness without enlarging the inference graph (FT-RCL)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Motivation: Why Compression Robustness?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/>
            </a:pPr>
            <a:r>
              <a:t>• Operational audio is resampled, codec-compressed, band-limited, and noise-corrupted</a:t>
            </a:r>
          </a:p>
          <a:p>
            <a:pPr>
              <a:defRPr sz="1700"/>
            </a:pPr>
            <a:r>
              <a:t>• High-frequency synthesis cues may vanish after MP3/AAC or telephony band-limiting</a:t>
            </a:r>
          </a:p>
          <a:p>
            <a:pPr>
              <a:defRPr sz="1700"/>
            </a:pPr>
            <a:r>
              <a:t>• Compression can add artifacts on real speech → false alarms if the model is clean-only</a:t>
            </a:r>
          </a:p>
          <a:p>
            <a:pPr>
              <a:defRPr sz="1500" i="1"/>
            </a:pPr>
            <a:r>
              <a:t>ΔM = M_clean − M_degraded  (Macro-F1, AUROC, or EER)</a:t>
            </a:r>
          </a:p>
          <a:p>
            <a:pPr>
              <a:defRPr sz="1500" b="1"/>
            </a:pPr>
            <a:r>
              <a:t>→ Same semantic clip should yield a stable real/fake decision after channel change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Motivation: Consistent Decisions Under Degradation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/>
            </a:pPr>
            <a:r>
              <a:t>• Original waveform → channel (codec / resample / telephony) → received waveform</a:t>
            </a:r>
          </a:p>
          <a:p>
            <a:pPr>
              <a:defRPr sz="1700"/>
            </a:pPr>
            <a:r>
              <a:t>• Edge detector must classify received audio consistently with the source intent</a:t>
            </a:r>
          </a:p>
          <a:p>
            <a:pPr>
              <a:defRPr sz="1700"/>
            </a:pPr>
            <a:r>
              <a:t>• Robustness is measured by how little M drops under conditioned evaluation</a:t>
            </a:r>
          </a:p>
          <a:p>
            <a:pPr>
              <a:defRPr sz="1500" b="1"/>
            </a:pPr>
            <a:r>
              <a:t>→ Phase 1 compares clean-only baseline (M0) vs FT-RCL training (M3)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Motivation: Edge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/>
            </a:pPr>
            <a:r>
              <a:t>• Cloud detection: latency, privacy, connectivity, and recurring cost</a:t>
            </a:r>
          </a:p>
          <a:p>
            <a:pPr>
              <a:defRPr sz="1700"/>
            </a:pPr>
            <a:r>
              <a:t>• On-device path: local inference after standard platform compression</a:t>
            </a:r>
          </a:p>
          <a:p>
            <a:pPr>
              <a:defRPr sz="1500" i="1"/>
            </a:pPr>
            <a:r>
              <a:t>max_θ  detection quality  s.t.  params, memory, latency budgets</a:t>
            </a:r>
          </a:p>
          <a:p>
            <a:pPr>
              <a:defRPr sz="1500" b="1"/>
            </a:pPr>
            <a:r>
              <a:t>→ MobileNetV3-Small (~1.52M) + 80-bin log-mel @ 24 kHz at inference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(1/4): Benchmarks &amp;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/>
            </a:pPr>
            <a:r>
              <a:t>• ASVspoof (LA/PA/DF): speech-centric spoofing; EER is standard metric</a:t>
            </a:r>
          </a:p>
          <a:p>
            <a:pPr>
              <a:defRPr sz="1700"/>
            </a:pPr>
            <a:r>
              <a:t>• AT-ADD Track 2: all-type real vs fake; Macro-F1 over speech/singing/music/sound</a:t>
            </a:r>
          </a:p>
          <a:p>
            <a:pPr>
              <a:defRPr sz="1700"/>
            </a:pPr>
            <a:r>
              <a:t>• Generator-disjoint eval splits reduce memorization of synthesis fingerprints</a:t>
            </a:r>
          </a:p>
          <a:p>
            <a:pPr>
              <a:defRPr sz="1700"/>
            </a:pPr>
            <a:r>
              <a:t>• Challenge winners report 96%+ Macro-F1 with large SSL and fusion</a:t>
            </a:r>
          </a:p>
          <a:p>
            <a:pPr>
              <a:defRPr sz="1500" b="1"/>
            </a:pPr>
            <a:r>
              <a:t>→ We adopt AT-ADD Track 2 as primary benchmark for general audio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(2/4): Architectures &amp;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/>
            </a:pPr>
            <a:r>
              <a:t>• CNN/CRNN on log-mel or LFCC: compact but struggle on music and ambient sound</a:t>
            </a:r>
          </a:p>
          <a:p>
            <a:pPr>
              <a:defRPr sz="1700"/>
            </a:pPr>
            <a:r>
              <a:t>• SSL encoders (Wav2Vec2, XLS-R): strong accuracy, heavy inference cost</a:t>
            </a:r>
          </a:p>
          <a:p>
            <a:pPr>
              <a:defRPr sz="1700"/>
            </a:pPr>
            <a:r>
              <a:t>• Audio LLMs + frequency-time RL: SOTA interpretability, not edge-deployable</a:t>
            </a:r>
          </a:p>
          <a:p>
            <a:pPr>
              <a:defRPr sz="1700"/>
            </a:pPr>
            <a:r>
              <a:t>• Multimodal (audio-visual) methods improve robustness with extra modalities</a:t>
            </a:r>
          </a:p>
          <a:p>
            <a:pPr>
              <a:defRPr sz="1500" b="1"/>
            </a:pPr>
            <a:r>
              <a:t>→ Gap for ~1.5M-parameter models competitive across all audio types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(3/4): Robustness &amp; Compression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/>
            </a:pPr>
            <a:r>
              <a:t>• Data augmentation (codec/noise) improves robustness but lacks view pairing</a:t>
            </a:r>
          </a:p>
          <a:p>
            <a:pPr>
              <a:defRPr sz="1700"/>
            </a:pPr>
            <a:r>
              <a:t>• Condition-aware and coherence training (e.g., Vicomtech Wav2Vec2) motivate FT-RCL</a:t>
            </a:r>
          </a:p>
          <a:p>
            <a:pPr>
              <a:defRPr sz="1700"/>
            </a:pPr>
            <a:r>
              <a:t>• Audio compression (input) ≠ model compression (INT8) — both matter for edge</a:t>
            </a:r>
          </a:p>
          <a:p>
            <a:pPr>
              <a:defRPr sz="1700"/>
            </a:pPr>
            <a:r>
              <a:t>• Surveys emphasize generalization and adversarial robustness as open problems</a:t>
            </a:r>
          </a:p>
          <a:p>
            <a:pPr>
              <a:defRPr sz="1500" b="1"/>
            </a:pPr>
            <a:r>
              <a:t>→ Explicit clean/degraded coherence + curriculum under-studied at edge scale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(4/4): Synthesis &amp; 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/>
            </a:pPr>
            <a:r>
              <a:t>• Detection ✓ | Robustness △ | Lightweight △ — rarely optimized together</a:t>
            </a:r>
          </a:p>
          <a:p>
            <a:pPr>
              <a:defRPr sz="1700"/>
            </a:pPr>
            <a:r>
              <a:t>• Music/environmental sound remain hardest domains in compact mel-CNN systems</a:t>
            </a:r>
          </a:p>
          <a:p>
            <a:pPr>
              <a:defRPr sz="1700"/>
            </a:pPr>
            <a:r>
              <a:t>• Few student-scale pipelines report clean metrics and ΔM under one protocol</a:t>
            </a:r>
          </a:p>
          <a:p>
            <a:pPr>
              <a:defRPr sz="1700"/>
            </a:pPr>
            <a:r>
              <a:t>• Research question: Can a single lightweight detector generalize across types while tolerating compression-like degradations?</a:t>
            </a:r>
          </a:p>
          <a:p>
            <a:pPr>
              <a:defRPr sz="1500" b="1"/>
            </a:pPr>
            <a:r>
              <a:t>→ FT-RCL keeps inference identical to baseline; robustness is training-time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(Phase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/>
            </a:pPr>
            <a:r>
              <a:t>• Reproduce E1 v4 baseline: MobileNetV3-Small, 80-bin log-mel @ 24 kHz, repeat-pad</a:t>
            </a:r>
          </a:p>
          <a:p>
            <a:pPr>
              <a:defRPr sz="1700"/>
            </a:pPr>
            <a:r>
              <a:t>• Implement FT-RCL M1–M3: paired degradations, PC, FTSC, gating, severity curriculum</a:t>
            </a:r>
          </a:p>
          <a:p>
            <a:pPr>
              <a:defRPr sz="1700"/>
            </a:pPr>
            <a:r>
              <a:t>• Evaluate clean Macro-F1, AUROC, EER; per-type breakdown on 30% stratified subset</a:t>
            </a:r>
          </a:p>
          <a:p>
            <a:pPr>
              <a:defRPr sz="1700"/>
            </a:pPr>
            <a:r>
              <a:t>• Frontend &amp; backbone ablation (E1 CNN vs E2 CRNN) on full AT-ADD where reported</a:t>
            </a:r>
          </a:p>
          <a:p>
            <a:pPr>
              <a:defRPr sz="1700"/>
            </a:pPr>
            <a:r>
              <a:t>• Planned next: systematic ΔM, STAR-Edge eval, INT8/latency on target edge device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End-to-End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349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• Manifest CSV → load 24 kHz → 4 s crop (repeat-pad) → log-mel → classifier</a:t>
            </a:r>
          </a:p>
          <a:p>
            <a:pPr>
              <a:defRPr sz="1600"/>
            </a:pPr>
            <a:r>
              <a:t>• Training (M3): identical crop index for clean x and degraded x̃</a:t>
            </a:r>
          </a:p>
          <a:p>
            <a:pPr>
              <a:defRPr sz="1600"/>
            </a:pPr>
            <a:r>
              <a:t>• Eval: clean clips only for primary tables; conditioned eval for ΔM</a:t>
            </a:r>
          </a:p>
          <a:p>
            <a:pPr>
              <a:defRPr sz="1500" b="1"/>
            </a:pPr>
            <a:r>
              <a:t>→ Single mel → MobileNet path at inference for both systems</a:t>
            </a:r>
          </a:p>
        </p:txBody>
      </p:sp>
      <p:pic>
        <p:nvPicPr>
          <p:cNvPr id="5" name="Picture 4" descr="pipelin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34440"/>
            <a:ext cx="5806440" cy="1770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89320" y="5989320"/>
            <a:ext cx="5806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/>
            </a:pPr>
            <a:r>
              <a:t>Pipeline overview (report Figure)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Acoustic Frontend (E1 v4 Standard)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349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• 24 kHz sampling (captures 8–12 kHz vocoder artifacts vs 16 kHz telephony)</a:t>
            </a:r>
          </a:p>
          <a:p>
            <a:pPr>
              <a:defRPr sz="1600"/>
            </a:pPr>
            <a:r>
              <a:t>• Circular repeat-pad avoids duration shortcuts from trailing silence (ASVspoof study)</a:t>
            </a:r>
          </a:p>
          <a:p>
            <a:pPr>
              <a:defRPr sz="1600"/>
            </a:pPr>
            <a:r>
              <a:t>• 80 mel bins; global mean/std normalization from training statistics</a:t>
            </a:r>
          </a:p>
          <a:p>
            <a:pPr>
              <a:defRPr sz="1500" i="1"/>
            </a:pPr>
            <a:r>
              <a:t>x_padded[n] = x[n mod L]  for short clips</a:t>
            </a:r>
          </a:p>
          <a:p>
            <a:pPr>
              <a:defRPr sz="1500" b="1"/>
            </a:pPr>
            <a:r>
              <a:t>→ Same frontend for baseline and FT-RCL ensures fair comparison</a:t>
            </a:r>
          </a:p>
        </p:txBody>
      </p:sp>
      <p:pic>
        <p:nvPicPr>
          <p:cNvPr id="5" name="Picture 4" descr="mel_fron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34440"/>
            <a:ext cx="5806440" cy="171967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Detector (Mode M0)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349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• MobileNetV3-Small adapted to 1-channel mel input (~1,519,618 parameters)</a:t>
            </a:r>
          </a:p>
          <a:p>
            <a:pPr>
              <a:defRPr sz="1600"/>
            </a:pPr>
            <a:r>
              <a:t>• Class-weighted cross-entropy on clean batches only</a:t>
            </a:r>
          </a:p>
          <a:p>
            <a:pPr>
              <a:defRPr sz="1600"/>
            </a:pPr>
            <a:r>
              <a:t>• Checkpoint: best development Macro-F1</a:t>
            </a:r>
          </a:p>
          <a:p>
            <a:pPr>
              <a:defRPr sz="1600"/>
            </a:pPr>
            <a:r>
              <a:t>• Full-split reference: 75.70% acc, 0.875 AUROC, 19.92% EER (E1 v4)</a:t>
            </a:r>
          </a:p>
          <a:p>
            <a:pPr>
              <a:defRPr sz="1500" b="1"/>
            </a:pPr>
            <a:r>
              <a:t>→ Pure 2D CNN beats CRNN (GRU/LSTM) on full AT-ADD heterogeneous audio</a:t>
            </a:r>
          </a:p>
        </p:txBody>
      </p:sp>
      <p:pic>
        <p:nvPicPr>
          <p:cNvPr id="5" name="Picture 4" descr="mobilenet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34440"/>
            <a:ext cx="5806440" cy="19509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FT-RCL: Paired Clean / Degraded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349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• Shared backbone weights; dual forward on clean and degraded mels</a:t>
            </a:r>
          </a:p>
          <a:p>
            <a:pPr>
              <a:defRPr sz="1600"/>
            </a:pPr>
            <a:r>
              <a:t>• Subband pooling → L2-normalized 8-D frequency signatures (training only)</a:t>
            </a:r>
          </a:p>
          <a:p>
            <a:pPr>
              <a:defRPr sz="1600"/>
            </a:pPr>
            <a:r>
              <a:t>• Degradations applied in waveform domain before identical mel extraction</a:t>
            </a:r>
          </a:p>
          <a:p>
            <a:pPr>
              <a:defRPr sz="1500" b="1"/>
            </a:pPr>
            <a:r>
              <a:t>→ Inference graph unchanged — only one forward pass on received audio</a:t>
            </a:r>
          </a:p>
        </p:txBody>
      </p:sp>
      <p:pic>
        <p:nvPicPr>
          <p:cNvPr id="5" name="Picture 4" descr="ft_rcl_pai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34440"/>
            <a:ext cx="5806440" cy="26265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Loss Functions (Mode M3)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349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/>
            </a:pPr>
            <a:r>
              <a:t>L_cls = CE(z_c,y) + 0.5·CE(z_d,y)</a:t>
            </a:r>
          </a:p>
          <a:p>
            <a:pPr>
              <a:defRPr sz="1500" i="1"/>
            </a:pPr>
            <a:r>
              <a:t>L_PC = (1/B) Σ (q_c − q_d)²  (fake-class probability match)</a:t>
            </a:r>
          </a:p>
          <a:p>
            <a:pPr>
              <a:defRPr sz="1500" i="1"/>
            </a:pPr>
            <a:r>
              <a:t>L_FTSC = (1/BK) Σ (1 − cos(s_c, s_d))  per mel subband</a:t>
            </a:r>
          </a:p>
          <a:p>
            <a:pPr>
              <a:defRPr sz="1500" i="1"/>
            </a:pPr>
            <a:r>
              <a:t>L_M3 = L_cls + w̄(γ_pc·L_PC + γ_ftsc·L_FTSC);  w_i = α_t·κ_i·η(ρ_i)</a:t>
            </a:r>
          </a:p>
          <a:p>
            <a:pPr>
              <a:defRPr sz="1500" b="1"/>
            </a:pPr>
            <a:r>
              <a:t>→ PC aligns decisions; FTSC aligns internal signatures under degradation</a:t>
            </a:r>
          </a:p>
        </p:txBody>
      </p:sp>
      <p:pic>
        <p:nvPicPr>
          <p:cNvPr id="5" name="Picture 4" descr="pc_ft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34440"/>
            <a:ext cx="5806440" cy="21774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Modes M0–M3 (Ablation Ladder)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349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• M0: CE on clean mel only (baseline)</a:t>
            </a:r>
          </a:p>
          <a:p>
            <a:pPr>
              <a:defRPr sz="1600"/>
            </a:pPr>
            <a:r>
              <a:t>• M1: CE on degraded view only</a:t>
            </a:r>
          </a:p>
          <a:p>
            <a:pPr>
              <a:defRPr sz="1600"/>
            </a:pPr>
            <a:r>
              <a:t>• M2: L_cls + gated prediction coherence (η ≡ 1)</a:t>
            </a:r>
          </a:p>
          <a:p>
            <a:pPr>
              <a:defRPr sz="1600"/>
            </a:pPr>
            <a:r>
              <a:t>• M3: M2 + FTSC + type/confidence/severity gate + J-score checkpointing</a:t>
            </a:r>
          </a:p>
          <a:p>
            <a:pPr>
              <a:defRPr sz="1500" b="1"/>
            </a:pPr>
            <a:r>
              <a:t>→ M3 is the proposed system compared against M0 on identical data</a:t>
            </a:r>
          </a:p>
        </p:txBody>
      </p:sp>
      <p:pic>
        <p:nvPicPr>
          <p:cNvPr id="5" name="Picture 4" descr="ablation_m0_m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34440"/>
            <a:ext cx="5806440" cy="3870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Degradations &amp; Severity Curriculum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349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• Families: resample 16 kHz, MP3 bitrates, additive noise (SNR), telephony 300–3400 Hz</a:t>
            </a:r>
          </a:p>
          <a:p>
            <a:pPr>
              <a:defRPr sz="1600"/>
            </a:pPr>
            <a:r>
              <a:t>• Same random crop index ties clean and degraded waveforms</a:t>
            </a:r>
          </a:p>
          <a:p>
            <a:pPr>
              <a:defRPr sz="1600"/>
            </a:pPr>
            <a:r>
              <a:t>• Curriculum: severity cap 1 (epochs 1–5) → 3 (6–12) → 4 (13+)</a:t>
            </a:r>
          </a:p>
          <a:p>
            <a:pPr>
              <a:defRPr sz="1500" b="1"/>
            </a:pPr>
            <a:r>
              <a:t>→ Gradual exposure reduces early training collapse on harsh degradations</a:t>
            </a:r>
          </a:p>
        </p:txBody>
      </p:sp>
      <p:pic>
        <p:nvPicPr>
          <p:cNvPr id="5" name="Picture 4" descr="degradation_seve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34440"/>
            <a:ext cx="5806440" cy="211143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vs Inference (Edge Path)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349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• Training: paired views + PC/FTSC + optional STAR-Edge (ABR, STC, CAD)</a:t>
            </a:r>
          </a:p>
          <a:p>
            <a:pPr>
              <a:defRPr sz="1600"/>
            </a:pPr>
            <a:r>
              <a:t>• Inference: waveform → log-mel → MobileNet → softmax fake score</a:t>
            </a:r>
          </a:p>
          <a:p>
            <a:pPr>
              <a:defRPr sz="1600"/>
            </a:pPr>
            <a:r>
              <a:t>• No teacher network, no second forward, no signature head at deploy time</a:t>
            </a:r>
          </a:p>
          <a:p>
            <a:pPr>
              <a:defRPr sz="1500" b="1"/>
            </a:pPr>
            <a:r>
              <a:t>→ Robustness bought during training; deploy-time cost equals baseline</a:t>
            </a:r>
          </a:p>
        </p:txBody>
      </p:sp>
      <p:pic>
        <p:nvPicPr>
          <p:cNvPr id="5" name="Picture 4" descr="train_vs_in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34440"/>
            <a:ext cx="5806440" cy="174193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Protocol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/>
            </a:pPr>
            <a:r>
              <a:t>• Dataset: AT-ADD Track 2; phase runs on 30% stratified subset (seed 42)</a:t>
            </a:r>
          </a:p>
          <a:p>
            <a:pPr>
              <a:defRPr sz="1700"/>
            </a:pPr>
            <a:r>
              <a:t>• Eval subset: n = 13,287 clean clips; types balanced in Macro-F1</a:t>
            </a:r>
          </a:p>
          <a:p>
            <a:pPr>
              <a:defRPr sz="1700"/>
            </a:pPr>
            <a:r>
              <a:t>• Macro-F1 (primary), AUROC (ranking), EER (threshold-free error rate)</a:t>
            </a:r>
          </a:p>
          <a:p>
            <a:pPr>
              <a:defRPr sz="1500" i="1"/>
            </a:pPr>
            <a:r>
              <a:t>J = Macro-F1_dev − 0.5·Δ̂Macro-F1_dev  (FT-RCL checkpoint)</a:t>
            </a:r>
          </a:p>
          <a:p>
            <a:pPr>
              <a:defRPr sz="1500" b="1"/>
            </a:pPr>
            <a:r>
              <a:t>→ Baseline uses dev Macro-F1; FT-RCL uses J to favor robustness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Clean Evaluation (30% subset)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Clean eval only. Full-split E1 from complete AT-ADD training (report Table).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1078992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Macro-F1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AUROC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EER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Baseline (E1 / M0)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0.216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FT-RCL (M3)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0.659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0.748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0.234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Ref. full-split E1 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75.7%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19.92%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Macro-F1 &amp; EER by Audio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Type-averaged Macro-F1 ≈ 0.587 (baseline) vs 0.589 (FT-RCL) — tied; music remains hardest.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00200"/>
          <a:ext cx="107899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Baseline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FT-RCL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Baseline 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FT-RCL EER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Speech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0.179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Singing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0.794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0.764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0.208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0.426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0.394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Music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0.467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Dynamics (Development Set)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55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• Baseline peak dev Macro-F1 ≈ 0.930 @ epoch 20</a:t>
            </a:r>
          </a:p>
          <a:p>
            <a:pPr>
              <a:defRPr sz="1500"/>
            </a:pPr>
            <a:r>
              <a:t>• FT-RCL peak dev Macro-F1 ≈ 0.909, best J ≈ 0.902 @ epoch 12</a:t>
            </a:r>
          </a:p>
          <a:p>
            <a:pPr>
              <a:defRPr sz="1500"/>
            </a:pPr>
            <a:r>
              <a:t>• M3 train loss unreliable under FP16 — select checkpoints via dev Macro-F1 / J</a:t>
            </a:r>
          </a:p>
        </p:txBody>
      </p:sp>
      <p:pic>
        <p:nvPicPr>
          <p:cNvPr id="5" name="Picture 4" descr="dev_macro_f1_au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97480"/>
            <a:ext cx="5394960" cy="2697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80644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Baseline (M0)</a:t>
            </a:r>
          </a:p>
        </p:txBody>
      </p:sp>
      <p:pic>
        <p:nvPicPr>
          <p:cNvPr id="7" name="Picture 6" descr="dev_macro_f1_au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697480"/>
            <a:ext cx="5394960" cy="2697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580644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FT-RCL (M3)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Curves &amp; Confusion (Clean)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1155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• ROC and confusion matrices at threshold 0.5 on held-out eval</a:t>
            </a:r>
          </a:p>
          <a:p>
            <a:pPr>
              <a:defRPr sz="1500"/>
            </a:pPr>
            <a:r>
              <a:t>• Both models struggle most on music (high EER ~0.40)</a:t>
            </a:r>
          </a:p>
          <a:p>
            <a:pPr>
              <a:defRPr sz="1500" b="1"/>
            </a:pPr>
            <a:r>
              <a:t>→ Per-type errors drive low type-averaged Macro-F1 vs pooled accuracy</a:t>
            </a:r>
          </a:p>
        </p:txBody>
      </p:sp>
      <p:pic>
        <p:nvPicPr>
          <p:cNvPr id="5" name="Picture 4" descr="confusion_matrix_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97480"/>
            <a:ext cx="5394960" cy="43159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80644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Baseline confusion</a:t>
            </a:r>
          </a:p>
        </p:txBody>
      </p:sp>
      <p:pic>
        <p:nvPicPr>
          <p:cNvPr id="7" name="Picture 6" descr="confusion_matrix_e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697480"/>
            <a:ext cx="5394960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580644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FT-RCL confusion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Conclusion, 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/>
            </a:pPr>
            <a:r>
              <a:t>• Established E1 v4 mel-CNN baseline and FT-RCL M3 on shared AT-ADD protocol</a:t>
            </a:r>
          </a:p>
          <a:p>
            <a:pPr>
              <a:defRPr sz="1700"/>
            </a:pPr>
            <a:r>
              <a:t>• Frontend repeat-pad @ 24 kHz and CNN-over-CRNN choice supported by ablations</a:t>
            </a:r>
          </a:p>
          <a:p>
            <a:pPr>
              <a:defRPr sz="1700"/>
            </a:pPr>
            <a:r>
              <a:t>• Limitation: 30% subset; primary tables are clean-only — ΔM sweep in progress</a:t>
            </a:r>
          </a:p>
          <a:p>
            <a:pPr>
              <a:defRPr sz="1700"/>
            </a:pPr>
            <a:r>
              <a:t>• Limitation: music domain still ~40% EER for both systems</a:t>
            </a:r>
          </a:p>
          <a:p>
            <a:pPr>
              <a:defRPr sz="1700"/>
            </a:pPr>
            <a:r>
              <a:t>• Future: full-split training, STAR-Edge held-out eval, INT8/latency edge benchmark</a:t>
            </a:r>
          </a:p>
          <a:p>
            <a:pPr>
              <a:defRPr sz="1500" b="1"/>
            </a:pPr>
            <a:r>
              <a:t>→ Lightweight inference preserved; next phase quantifies compression robustness (ΔM)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(IEEE Style)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/>
            </a:pPr>
            <a:r>
              <a:t>• [1] Y. Xie et al., “AT-ADD: A benchmark and challenge for robust all-type audio deepfake detection,” arXiv:2608.23437, 2026.</a:t>
            </a:r>
          </a:p>
          <a:p>
            <a:pPr>
              <a:defRPr sz="1700"/>
            </a:pPr>
            <a:r>
              <a:t>• [2] A. Howard et al., “Searching for MobileNetV3,” arXiv:1905.02244, 2019.</a:t>
            </a:r>
          </a:p>
          <a:p>
            <a:pPr>
              <a:defRPr sz="1700"/>
            </a:pPr>
            <a:r>
              <a:t>• [3] T. Wang et al., ASVspoof 2019 challenge evaluation plan, Computer Speech &amp; Language, 2020.</a:t>
            </a:r>
          </a:p>
          <a:p>
            <a:pPr>
              <a:defRPr sz="1700"/>
            </a:pPr>
            <a:r>
              <a:t>• [4] X. Li, P.-Y. Chen, W. Wei, “Where are we in audio deepfake detection?,” ACM TOIT, 2025.</a:t>
            </a:r>
          </a:p>
          <a:p>
            <a:pPr>
              <a:defRPr sz="1700"/>
            </a:pPr>
            <a:r>
              <a:t>• [5] J. M. Martín-Doñas and A. Álvarez, Vicomtech Wav2Vec2 ADD system, ICASSP 2022.</a:t>
            </a:r>
          </a:p>
          <a:p>
            <a:pPr>
              <a:defRPr sz="1700"/>
            </a:pPr>
            <a:r>
              <a:t>• [6] Y. Kim et al., “X-AVDT: Audio-visual cross-attention for robust deepfake detection,” arXiv:2603.08483, 2026.</a:t>
            </a:r>
          </a:p>
          <a:p>
            <a:pPr>
              <a:defRPr sz="1700"/>
            </a:pPr>
            <a:r>
              <a:t>• [7] H.-H. Nguyen-Le et al., “Deepfake Detection Across Image, Video, and Audio,” AI Review, 2026.</a:t>
            </a:r>
          </a:p>
          <a:p>
            <a:pPr>
              <a:defRPr sz="1700"/>
            </a:pPr>
            <a:r>
              <a:t>• [8] Y. Xie et al., “Interpretable All-Type Audio Deepfake Detection with Audio LLMs,” arXiv:2601.02983, 2026.</a:t>
            </a:r>
          </a:p>
          <a:p>
            <a:pPr>
              <a:defRPr sz="1700"/>
            </a:pPr>
            <a:r>
              <a:t>• [9] H. Pham et al., deepfake detection with ImageNet-pretrained CNNs, 2024 (reproduced in report).</a:t>
            </a:r>
          </a:p>
          <a:p>
            <a:pPr>
              <a:defRPr sz="1700"/>
            </a:pPr>
            <a:r>
              <a:t>• [10] B. Zhang et al., “Audio Deepfake Detection: What Has Been Achieved,” Sensors, 2025.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/>
            </a:pPr>
            <a:r>
              <a:t>• Questions and discussion</a:t>
            </a:r>
          </a:p>
          <a:p>
            <a:pPr>
              <a:defRPr sz="1700"/>
            </a:pPr>
            <a:r>
              <a:t>• Dr. Sivaiah Bellamkonda — Project Guide</a:t>
            </a:r>
          </a:p>
          <a:p>
            <a:pPr>
              <a:defRPr sz="1700"/>
            </a:pPr>
            <a:r>
              <a:t>• Team 29 — IIIT Kottayam, Department of CSE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2446</TotalTime>
  <Words>253</Words>
  <Application>Microsoft Macintosh PowerPoint</Application>
  <PresentationFormat>Widescreen</PresentationFormat>
  <Paragraphs>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BTP Title (as agreed upon by the Guide)</vt:lpstr>
      <vt:lpstr>Introduction</vt:lpstr>
      <vt:lpstr>Literature Review</vt:lpstr>
      <vt:lpstr>Motivation (Optional)</vt:lpstr>
      <vt:lpstr>Problem Statement</vt:lpstr>
      <vt:lpstr>Architecture</vt:lpstr>
      <vt:lpstr>Experimental Results</vt:lpstr>
      <vt:lpstr>Demonstration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Engineering</dc:title>
  <dc:creator>Arun Cyril</dc:creator>
  <cp:lastModifiedBy>Jeena Thomas</cp:lastModifiedBy>
  <cp:revision>286</cp:revision>
  <dcterms:created xsi:type="dcterms:W3CDTF">2021-08-20T07:15:07Z</dcterms:created>
  <dcterms:modified xsi:type="dcterms:W3CDTF">2026-09-24T08:22:39Z</dcterms:modified>
</cp:coreProperties>
</file>